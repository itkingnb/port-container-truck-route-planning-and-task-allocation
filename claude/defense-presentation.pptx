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70" r:id="rId10"/>
    <p:sldId id="269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50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32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&#23631;&#24149;&#24405;&#21046;%202026-06-08%20161051.mp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1371600"/>
            <a:ext cx="73152" cy="22860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669BB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3474720"/>
            <a:ext cx="320040" cy="320040"/>
          </a:xfrm>
          <a:prstGeom prst="rect">
            <a:avLst/>
          </a:prstGeom>
          <a:solidFill>
            <a:srgbClr val="780000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1600200"/>
            <a:ext cx="5029200" cy="2423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自动化港口集卡</a:t>
            </a:r>
            <a:r>
              <a:rPr lang="en-US" altLang="zh-CN" sz="4000" b="1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路径规划与任务分配系统</a:t>
            </a:r>
            <a:endParaRPr lang="en-US" altLang="zh-CN" sz="4000" dirty="0"/>
          </a:p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840480" y="2003898"/>
            <a:ext cx="5029200" cy="51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3840480" y="3246120"/>
            <a:ext cx="1097280" cy="36576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934845" y="4220346"/>
            <a:ext cx="2934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/>
              <a:t>小组成员：倪嘉宏、冯方舟、潘飞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79"/>
            <a:ext cx="3840480" cy="3717911"/>
          </a:xfrm>
          <a:prstGeom prst="roundRect">
            <a:avLst>
              <a:gd name="adj" fmla="val 3030"/>
            </a:avLst>
          </a:prstGeom>
          <a:solidFill>
            <a:srgbClr val="FDF0D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3032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港口吞吐量持续增长，传统人工调度效率瓶颈凸显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多车多任务场景下人工分配难以实现全局最优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道路拥堵导致车辆等待时间长，燃油消耗增加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缺乏前瞻性调度机制，无法提前规避拥堵区域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79"/>
            <a:ext cx="3840480" cy="3669273"/>
          </a:xfrm>
          <a:prstGeom prst="roundRect">
            <a:avLst>
              <a:gd name="adj" fmla="val 3030"/>
            </a:avLst>
          </a:prstGeom>
          <a:solidFill>
            <a:srgbClr val="669BB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34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83079"/>
            <a:ext cx="3531140" cy="280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构建可配置的自动化港口仿真环境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实现A</a:t>
            </a: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*算法路径规划与拥堵感知避障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集成匈牙利算法完成多车最优任务分配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引入ML预测与强化学习提升调度智能化</a:t>
            </a:r>
            <a:endParaRPr lang="en-US" sz="1400" dirty="0"/>
          </a:p>
        </p:txBody>
      </p:sp>
      <p:sp>
        <p:nvSpPr>
          <p:cNvPr id="9" name="Shape 38">
            <a:extLst>
              <a:ext uri="{FF2B5EF4-FFF2-40B4-BE49-F238E27FC236}">
                <a16:creationId xmlns:a16="http://schemas.microsoft.com/office/drawing/2014/main" id="{32C5D040-318C-4571-E9CC-518067549F70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01D7D4D9-B8B0-6597-667F-7B93E0F480CE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78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任务生成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3736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5740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匈牙利分配</a:t>
            </a:r>
            <a:endParaRPr lang="en-US" altLang="zh-CN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03049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</a:t>
            </a:r>
            <a:r>
              <a:rPr lang="en-US" altLang="zh-CN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寻路</a:t>
            </a:r>
            <a:endParaRPr lang="en-US" altLang="zh-CN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4068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669BBC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卡车执行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1051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32320" y="1051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03049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3817" y="1842516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DF0D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3817" y="1842516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669BBC"/>
          </a:solidFill>
          <a:ln/>
        </p:spPr>
      </p:sp>
      <p:sp>
        <p:nvSpPr>
          <p:cNvPr id="19" name="Shape 17"/>
          <p:cNvSpPr/>
          <p:nvPr/>
        </p:nvSpPr>
        <p:spPr>
          <a:xfrm>
            <a:off x="363817" y="1933956"/>
            <a:ext cx="256032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0" name="Text 18"/>
          <p:cNvSpPr/>
          <p:nvPr/>
        </p:nvSpPr>
        <p:spPr>
          <a:xfrm>
            <a:off x="363817" y="18425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2417" y="24825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zh-CN" alt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任务价值评分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2417" y="28483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拥堵趋势预测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2417" y="32141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EWMA热力图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66352" y="1842516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DF0D5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66352" y="1842516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78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3166352" y="1933956"/>
            <a:ext cx="2560320" cy="3657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166352" y="18425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运筹优化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94952" y="24825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匈牙利算法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94952" y="28483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全局最优匹配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94952" y="32141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ML增强评分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4480560"/>
            <a:ext cx="8046720" cy="274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EA897C05-ED80-00C4-A0DF-4CCB33DDE8EA}"/>
              </a:ext>
            </a:extLst>
          </p:cNvPr>
          <p:cNvSpPr/>
          <p:nvPr/>
        </p:nvSpPr>
        <p:spPr>
          <a:xfrm>
            <a:off x="2057400" y="4215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技术栈：P</a:t>
            </a:r>
            <a:r>
              <a:rPr lang="en-US" altLang="zh-CN" sz="1200" b="1" dirty="0" err="1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ython+</a:t>
            </a:r>
            <a:r>
              <a:rPr lang="en-US" sz="1200" b="1" dirty="0" err="1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</a:t>
            </a: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REST API + HTML5 Canvas + JavaScript</a:t>
            </a:r>
            <a:endParaRPr lang="en-US" sz="1200" dirty="0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44025879-4FC4-C75C-91CF-EA1640FFDD76}"/>
              </a:ext>
            </a:extLst>
          </p:cNvPr>
          <p:cNvSpPr/>
          <p:nvPr/>
        </p:nvSpPr>
        <p:spPr>
          <a:xfrm>
            <a:off x="5934845" y="1837944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DF0D5">
              <a:alpha val="70000"/>
            </a:srgbClr>
          </a:solidFill>
          <a:ln/>
        </p:spPr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AC446718-0B61-56CF-D52A-45090BCEA616}"/>
              </a:ext>
            </a:extLst>
          </p:cNvPr>
          <p:cNvSpPr/>
          <p:nvPr/>
        </p:nvSpPr>
        <p:spPr>
          <a:xfrm>
            <a:off x="5934845" y="1837944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669BBC"/>
          </a:solidFill>
          <a:ln/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D9A296E4-423C-0C69-53F1-C983D2B9B9C5}"/>
              </a:ext>
            </a:extLst>
          </p:cNvPr>
          <p:cNvSpPr/>
          <p:nvPr/>
        </p:nvSpPr>
        <p:spPr>
          <a:xfrm>
            <a:off x="5934845" y="1929384"/>
            <a:ext cx="2560320" cy="36576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BFF93FE6-5533-49BE-69ED-DE3419925F51}"/>
              </a:ext>
            </a:extLst>
          </p:cNvPr>
          <p:cNvSpPr/>
          <p:nvPr/>
        </p:nvSpPr>
        <p:spPr>
          <a:xfrm>
            <a:off x="5934845" y="18379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</a:t>
            </a:r>
            <a:endParaRPr lang="en-US" sz="16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FA1D1CA3-944A-7E2D-82FA-733E3FE5B000}"/>
              </a:ext>
            </a:extLst>
          </p:cNvPr>
          <p:cNvSpPr/>
          <p:nvPr/>
        </p:nvSpPr>
        <p:spPr>
          <a:xfrm>
            <a:off x="6163445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en-US" altLang="zh-CN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</a:t>
            </a: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18C62F52-8E97-E839-BE19-B4D9D6E085A5}"/>
              </a:ext>
            </a:extLst>
          </p:cNvPr>
          <p:cNvSpPr/>
          <p:nvPr/>
        </p:nvSpPr>
        <p:spPr>
          <a:xfrm>
            <a:off x="6163445" y="28437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zh-CN" alt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多智能体协调</a:t>
            </a:r>
            <a:endParaRPr lang="en-US" sz="13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1293B3F8-627B-13BC-C0A3-FEC198CF643E}"/>
              </a:ext>
            </a:extLst>
          </p:cNvPr>
          <p:cNvSpPr/>
          <p:nvPr/>
        </p:nvSpPr>
        <p:spPr>
          <a:xfrm>
            <a:off x="6163445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r>
              <a:rPr lang="zh-CN" alt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冲突消解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港口环境建模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可配置的随机港口布局生成器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599"/>
            <a:ext cx="5029200" cy="3497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网格化布局：支持 8×3 至 20×10 </a:t>
            </a: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的港口网格配置</a:t>
            </a:r>
            <a:endParaRPr lang="en-US" sz="13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节点体系：Gate入口/出口、Quay岸吊节点(Q1-Qn)、Column列节点(C{col}_L/R{row})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双向路网：节点间通过双向边连接，构建完整的道路图结构</a:t>
            </a:r>
            <a:endParaRPr lang="en-US" sz="13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堆场生成：概率化生成堆场区域(Yard Blocks)，</a:t>
            </a:r>
            <a:r>
              <a:rPr lang="en-US" sz="13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模拟真实堆存分布</a:t>
            </a:r>
            <a:endParaRPr lang="en-US" sz="13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动态参数：列间距、行间距根据港口规模自动调整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31733" y="3326129"/>
            <a:ext cx="2743200" cy="640080"/>
          </a:xfrm>
          <a:prstGeom prst="rect">
            <a:avLst/>
          </a:prstGeom>
          <a:solidFill>
            <a:srgbClr val="669BB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33147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海侧 / 岸吊区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178308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228600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0" y="2788920"/>
            <a:ext cx="548640" cy="411480"/>
          </a:xfrm>
          <a:prstGeom prst="roundRect">
            <a:avLst>
              <a:gd name="adj" fmla="val 6667"/>
            </a:avLst>
          </a:prstGeom>
          <a:solidFill>
            <a:srgbClr val="D2B48C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40005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堆场区块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0" cy="157734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748790"/>
            <a:ext cx="0" cy="156591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737360"/>
            <a:ext cx="0" cy="157734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43997" y="1737360"/>
            <a:ext cx="0" cy="157734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73736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24028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74320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246120"/>
            <a:ext cx="2560320" cy="0"/>
          </a:xfrm>
          <a:prstGeom prst="line">
            <a:avLst/>
          </a:prstGeom>
          <a:noFill/>
          <a:ln w="381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任务分配优化 — 匈牙利算法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030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核心问题：n 辆空闲卡车 × m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个待处理任务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</a:t>
            </a:r>
            <a:r>
              <a:rPr lang="zh-CN" alt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一对一最优指派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最小化总行驶距离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/最大化总任务价值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2697480"/>
          </a:xfrm>
          <a:prstGeom prst="roundRect">
            <a:avLst>
              <a:gd name="adj" fmla="val 3390"/>
            </a:avLst>
          </a:prstGeom>
          <a:solidFill>
            <a:srgbClr val="FDF0D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传统方案：纯距离代价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Cost(i,j) = Distance(truck_i, task_j)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r>
              <a:rPr lang="en-US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纯几何距离矩阵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3291840"/>
            <a:ext cx="640080" cy="2286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91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329184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3291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329184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3291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54480" y="356616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566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566160"/>
            <a:ext cx="640080" cy="2286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566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356616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3566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384048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3840480"/>
            <a:ext cx="64008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3840480"/>
            <a:ext cx="640080" cy="228600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508760"/>
            <a:ext cx="4023360" cy="2697480"/>
          </a:xfrm>
          <a:prstGeom prst="roundRect">
            <a:avLst>
              <a:gd name="adj" fmla="val 3390"/>
            </a:avLst>
          </a:prstGeom>
          <a:solidFill>
            <a:srgbClr val="669BB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ML增强方案：价值驱动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37760" y="2057400"/>
            <a:ext cx="3474720" cy="1901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2103120"/>
            <a:ext cx="3439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= f(urgency, distance, waiting, type)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紧急度权重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0.4	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距离权重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0.25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等待时间权重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0.2	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类型权重加成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0.15</a:t>
            </a:r>
            <a:endParaRPr lang="en-US" altLang="zh-CN" sz="1200" dirty="0">
              <a:solidFill>
                <a:srgbClr val="00304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altLang="zh-CN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优先处理高紧急度+长等待任务</a:t>
            </a:r>
            <a:endParaRPr lang="en-US" altLang="zh-CN" sz="1400" dirty="0"/>
          </a:p>
          <a:p>
            <a:pPr marL="0" indent="0" algn="l">
              <a:buNone/>
            </a:pPr>
            <a:endParaRPr lang="en-US" sz="1200" dirty="0"/>
          </a:p>
          <a:p>
            <a:r>
              <a:rPr lang="zh-CN" altLang="en-US" sz="1200" dirty="0"/>
              <a:t>代价转换：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Cost(i,j) = −Score × 100</a:t>
            </a: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(最大化 → 最小化转换)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 — 增强A*算法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FDF0D5">
              <a:alpha val="60000"/>
            </a:srgb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 搜索算法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00304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f(n) = g(n) + h(n)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增强代价函数：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14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g'(n) = g(n) + α · P_instant + β · P_trend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P_instant: 基于当前卡车位置的距离惩罚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P_trend: 基于EWMA历史拥堵趋势的预测惩罚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启发式搜索：欧几里得距离作为启发函数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即时避障：d &lt; 6.0 </a:t>
            </a: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时施加距离</a:t>
            </a:r>
            <a:r>
              <a:rPr lang="zh-CN" alt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</a:t>
            </a: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趋势预测：EWMA平滑</a:t>
            </a: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线性外推预测拥堵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避障模式对比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508760"/>
            <a:ext cx="54864" cy="128016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传统避障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仅基于传感器半径检测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被动等待或重新规划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无历史学习能力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97180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2971800"/>
            <a:ext cx="54864" cy="132588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趋势预测避障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即时惩罚 + 趋势惩罚双机制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提前规避历史拥堵热点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EWMA在线学习持续优化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智能预测模块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FDF0D5">
              <a:alpha val="60000"/>
            </a:srgb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任务价值预测器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TaskValuePredictor — 随机森林集成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571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算法：10棵树 × 最大深度5的随机森林集成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特征向量：[紧急度, 归一化距离, 等待时间, 任务类型]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加权评分：urgency×0.4 + distance×0.25 + waiting×0.2 + type×0.15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</a:t>
            </a: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：积压超过5个任务时自动提升优先级</a:t>
            </a:r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altLang="zh-CN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</a:t>
            </a:r>
            <a:r>
              <a:rPr lang="en-US" altLang="zh-CN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累计反馈</a:t>
            </a:r>
            <a:r>
              <a:rPr lang="en-US" altLang="zh-CN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条后每</a:t>
            </a:r>
            <a:r>
              <a:rPr lang="en-US" altLang="zh-CN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zh-CN" alt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r>
              <a:rPr lang="en-US" altLang="zh-CN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触发权重微调更新</a:t>
            </a:r>
            <a:endParaRPr lang="en-US" altLang="zh-CN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669BBC">
              <a:alpha val="22000"/>
            </a:srgb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拥堵预测器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CongestionPredictor — EWMA趋势学习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网格化热力图：10.0分辨率网格 × EWMA平滑(α=0.3)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热点检测：拥堵值≥0.6的区域标记为热点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趋势预测：基于近5步历史做线性外推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节点级+网格级双层拥堵度量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03049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279392"/>
            <a:ext cx="2103120" cy="493776"/>
          </a:xfrm>
          <a:prstGeom prst="roundRect">
            <a:avLst>
              <a:gd name="adj" fmla="val 9259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7939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任务价值评分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匈牙利算法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4279392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4279392"/>
            <a:ext cx="2103120" cy="493776"/>
          </a:xfrm>
          <a:prstGeom prst="roundRect">
            <a:avLst>
              <a:gd name="adj" fmla="val 9259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427939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拥堵趋势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A*边代价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4279392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4279392"/>
            <a:ext cx="2103120" cy="493776"/>
          </a:xfrm>
          <a:prstGeom prst="roundRect">
            <a:avLst>
              <a:gd name="adj" fmla="val 9259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7939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在线反馈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模型更新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 — Q-Learning智能体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DF0D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状态空间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has_task ∈ {0,1}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nearby_vehicles (3 bins)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nearest_task_dist (5 bins)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queue_length (3 bins)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914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669BB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动作空间 (4 Actions)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280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accept_nearest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481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accept_highest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6824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wait_idle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8836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relocate_center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780000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奖励信号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 任务完成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   碰撞风险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  空闲惩罚/s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  无效重定位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54864" cy="146304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 更新规则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2697480"/>
            <a:ext cx="3803904" cy="411480"/>
          </a:xfrm>
          <a:prstGeom prst="roundRect">
            <a:avLst>
              <a:gd name="adj" fmla="val 13333"/>
            </a:avLst>
          </a:prstGeom>
          <a:solidFill>
            <a:srgbClr val="FDF0D5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97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Q(s,a) ← Q(s,a) + α[r + γ·max Q(s',a') − Q(s,a)]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α = 0.1，折扣因子 γ = 0.9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ε-greedy探索：ε = 0.3 → 0.05 (decay = 0.995)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31720"/>
            <a:ext cx="54864" cy="14630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多智能体协调器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2697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冲突检测：两车选择同一任务时触发消解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Q值仲裁：高Q值车辆获得任务，低Q值重新选择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协作奖励追踪：记录冲突消解次数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0304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每个Truck独立运行一个RLAgent  |  离散化Q表避免深度网络复杂性  |  在线学习持续优化策略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F35EFA-D971-7907-7027-A1FFB3AD6EA0}"/>
              </a:ext>
            </a:extLst>
          </p:cNvPr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</a:rPr>
              <a:t>项目运行演示</a:t>
            </a:r>
            <a:endParaRPr lang="en-US" sz="34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BEB61BA-D4A0-343C-AA46-D652EBA5E3C5}"/>
              </a:ext>
            </a:extLst>
          </p:cNvPr>
          <p:cNvSpPr/>
          <p:nvPr/>
        </p:nvSpPr>
        <p:spPr>
          <a:xfrm>
            <a:off x="3552541" y="2354094"/>
            <a:ext cx="2719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hlinkClick r:id="rId2" action="ppaction://hlinkfile"/>
              </a:rPr>
              <a:t>演示视频</a:t>
            </a:r>
            <a:endParaRPr lang="en-US" sz="3400" dirty="0"/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327A354-1F79-550C-E93D-ACB658902A6D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80445997-E447-DB4E-D719-165A336553DE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5791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99FE1E94-9A4E-4357-85D6-A0F883F1D5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30A0E1-F5A1-4C5B-B157-7C3EA3453253}"/>
              </a:ext>
            </a:extLst>
          </p:cNvPr>
          <p:cNvSpPr>
            <a:spLocks noGrp="1"/>
          </p:cNvSpPr>
          <p:nvPr/>
        </p:nvSpPr>
        <p:spPr>
          <a:xfrm>
            <a:off x="6643687" y="0"/>
            <a:ext cx="2500313" cy="514350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062B70-0B70-41DC-86A1-66D5BA22AFB9}"/>
              </a:ext>
            </a:extLst>
          </p:cNvPr>
          <p:cNvSpPr>
            <a:spLocks noGrp="1"/>
          </p:cNvSpPr>
          <p:nvPr/>
        </p:nvSpPr>
        <p:spPr>
          <a:xfrm>
            <a:off x="0" y="4357687"/>
            <a:ext cx="2714625" cy="785813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B36D3-D639-4301-A7A0-E87AA7A8062C}"/>
              </a:ext>
            </a:extLst>
          </p:cNvPr>
          <p:cNvSpPr>
            <a:spLocks noGrp="1"/>
          </p:cNvSpPr>
          <p:nvPr/>
        </p:nvSpPr>
        <p:spPr>
          <a:xfrm>
            <a:off x="342900" y="871538"/>
            <a:ext cx="4200525" cy="22948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1B6903-2461-4C1E-830E-7F1C39909F38}"/>
              </a:ext>
            </a:extLst>
          </p:cNvPr>
          <p:cNvSpPr>
            <a:spLocks noGrp="1"/>
          </p:cNvSpPr>
          <p:nvPr/>
        </p:nvSpPr>
        <p:spPr>
          <a:xfrm>
            <a:off x="4714875" y="871538"/>
            <a:ext cx="4086225" cy="22948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6E6781-2862-4CF7-BA3D-8519755C9F5A}"/>
              </a:ext>
            </a:extLst>
          </p:cNvPr>
          <p:cNvSpPr>
            <a:spLocks noGrp="1"/>
          </p:cNvSpPr>
          <p:nvPr/>
        </p:nvSpPr>
        <p:spPr>
          <a:xfrm>
            <a:off x="342900" y="3320172"/>
            <a:ext cx="8458200" cy="1119900"/>
          </a:xfrm>
          <a:prstGeom prst="rect">
            <a:avLst/>
          </a:prstGeom>
          <a:solidFill>
            <a:srgbClr val="F8EED8"/>
          </a:solidFill>
          <a:ln w="9525">
            <a:solidFill>
              <a:srgbClr val="E2D4B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DFF081-DE39-4D4A-A3A0-770CB576EEFC}"/>
              </a:ext>
            </a:extLst>
          </p:cNvPr>
          <p:cNvSpPr>
            <a:spLocks noGrp="1"/>
          </p:cNvSpPr>
          <p:nvPr/>
        </p:nvSpPr>
        <p:spPr>
          <a:xfrm>
            <a:off x="514350" y="1014413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1" b="1" dirty="0" err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规模场景结果</a:t>
            </a:r>
            <a:endParaRPr sz="1181" b="1" dirty="0">
              <a:solidFill>
                <a:srgbClr val="0B3B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9B5308-9415-4228-89FB-BF54B9F806B0}"/>
              </a:ext>
            </a:extLst>
          </p:cNvPr>
          <p:cNvSpPr>
            <a:spLocks noGrp="1"/>
          </p:cNvSpPr>
          <p:nvPr/>
        </p:nvSpPr>
        <p:spPr>
          <a:xfrm>
            <a:off x="514350" y="1300163"/>
            <a:ext cx="1843088" cy="1685925"/>
          </a:xfrm>
          <a:prstGeom prst="rect">
            <a:avLst/>
          </a:prstGeom>
          <a:solidFill>
            <a:srgbClr val="0D4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27BDB8-3659-4A1F-AA74-E8DC7D787D41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00125" cy="1000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 dirty="0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rPr>
              <a:t>SMALL SCALE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85FB74-D6EC-4E04-89B4-25657C2DD925}"/>
              </a:ext>
            </a:extLst>
          </p:cNvPr>
          <p:cNvSpPr>
            <a:spLocks noGrp="1"/>
          </p:cNvSpPr>
          <p:nvPr/>
        </p:nvSpPr>
        <p:spPr>
          <a:xfrm>
            <a:off x="628650" y="1543050"/>
            <a:ext cx="8572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小型场景</a:t>
            </a:r>
            <a:endParaRPr sz="1238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662C24-BD1C-4164-84E4-C354F292DAA3}"/>
              </a:ext>
            </a:extLst>
          </p:cNvPr>
          <p:cNvSpPr>
            <a:spLocks noGrp="1"/>
          </p:cNvSpPr>
          <p:nvPr/>
        </p:nvSpPr>
        <p:spPr>
          <a:xfrm>
            <a:off x="1535906" y="1611752"/>
            <a:ext cx="1071563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dirty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4车 · 8×3 </a:t>
            </a:r>
            <a:r>
              <a:rPr sz="675" dirty="0" err="1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港口</a:t>
            </a:r>
            <a:endParaRPr sz="675" dirty="0">
              <a:solidFill>
                <a:srgbClr val="F2F6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592B70-4581-43AA-8703-10A302568C1A}"/>
              </a:ext>
            </a:extLst>
          </p:cNvPr>
          <p:cNvSpPr>
            <a:spLocks noGrp="1"/>
          </p:cNvSpPr>
          <p:nvPr/>
        </p:nvSpPr>
        <p:spPr>
          <a:xfrm>
            <a:off x="628650" y="1928813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ED9714-A0FC-4210-9AC1-2D81B20101F4}"/>
              </a:ext>
            </a:extLst>
          </p:cNvPr>
          <p:cNvSpPr>
            <a:spLocks noGrp="1"/>
          </p:cNvSpPr>
          <p:nvPr/>
        </p:nvSpPr>
        <p:spPr>
          <a:xfrm>
            <a:off x="700087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3FB540-61D3-4E94-9450-D578928DC5A1}"/>
              </a:ext>
            </a:extLst>
          </p:cNvPr>
          <p:cNvSpPr>
            <a:spLocks noGrp="1"/>
          </p:cNvSpPr>
          <p:nvPr/>
        </p:nvSpPr>
        <p:spPr>
          <a:xfrm>
            <a:off x="700087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任务完成数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4E9D4A-7AF6-436E-BBE4-E9B8B442436F}"/>
              </a:ext>
            </a:extLst>
          </p:cNvPr>
          <p:cNvSpPr>
            <a:spLocks noGrp="1"/>
          </p:cNvSpPr>
          <p:nvPr/>
        </p:nvSpPr>
        <p:spPr>
          <a:xfrm>
            <a:off x="1485900" y="1928813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E092F2-0EBE-4B93-8A5E-E457A2AF205E}"/>
              </a:ext>
            </a:extLst>
          </p:cNvPr>
          <p:cNvSpPr>
            <a:spLocks noGrp="1"/>
          </p:cNvSpPr>
          <p:nvPr/>
        </p:nvSpPr>
        <p:spPr>
          <a:xfrm>
            <a:off x="1557337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9.85s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FB3641-B07E-4E64-83A7-FA1939828ADC}"/>
              </a:ext>
            </a:extLst>
          </p:cNvPr>
          <p:cNvSpPr>
            <a:spLocks noGrp="1"/>
          </p:cNvSpPr>
          <p:nvPr/>
        </p:nvSpPr>
        <p:spPr>
          <a:xfrm>
            <a:off x="1557337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平均等待时间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04B2C8-4870-426D-9511-EFBF47E91AC3}"/>
              </a:ext>
            </a:extLst>
          </p:cNvPr>
          <p:cNvSpPr>
            <a:spLocks noGrp="1"/>
          </p:cNvSpPr>
          <p:nvPr/>
        </p:nvSpPr>
        <p:spPr>
          <a:xfrm>
            <a:off x="628650" y="2371725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20D87F-C66F-4892-A6EC-165F34EFBD7C}"/>
              </a:ext>
            </a:extLst>
          </p:cNvPr>
          <p:cNvSpPr>
            <a:spLocks noGrp="1"/>
          </p:cNvSpPr>
          <p:nvPr/>
        </p:nvSpPr>
        <p:spPr>
          <a:xfrm>
            <a:off x="700087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8CB953-9247-45D6-8019-2894F1E48931}"/>
              </a:ext>
            </a:extLst>
          </p:cNvPr>
          <p:cNvSpPr>
            <a:spLocks noGrp="1"/>
          </p:cNvSpPr>
          <p:nvPr/>
        </p:nvSpPr>
        <p:spPr>
          <a:xfrm>
            <a:off x="700087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车辆利用率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467C31-82DE-4E02-82A2-9FA0EED20A55}"/>
              </a:ext>
            </a:extLst>
          </p:cNvPr>
          <p:cNvSpPr>
            <a:spLocks noGrp="1"/>
          </p:cNvSpPr>
          <p:nvPr/>
        </p:nvSpPr>
        <p:spPr>
          <a:xfrm>
            <a:off x="1485900" y="2371725"/>
            <a:ext cx="757238" cy="371475"/>
          </a:xfrm>
          <a:prstGeom prst="rect">
            <a:avLst/>
          </a:prstGeom>
          <a:solidFill>
            <a:srgbClr val="245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98493A-48EE-4DB1-A4AF-3DC5B0AE7E69}"/>
              </a:ext>
            </a:extLst>
          </p:cNvPr>
          <p:cNvSpPr>
            <a:spLocks noGrp="1"/>
          </p:cNvSpPr>
          <p:nvPr/>
        </p:nvSpPr>
        <p:spPr>
          <a:xfrm>
            <a:off x="1557337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EE912E-7E28-48D0-8AB6-209F95DFFF65}"/>
              </a:ext>
            </a:extLst>
          </p:cNvPr>
          <p:cNvSpPr>
            <a:spLocks noGrp="1"/>
          </p:cNvSpPr>
          <p:nvPr/>
        </p:nvSpPr>
        <p:spPr>
          <a:xfrm>
            <a:off x="1557337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检测热点数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CA04C57-8C66-4CFF-A9E1-686612FAE517}"/>
              </a:ext>
            </a:extLst>
          </p:cNvPr>
          <p:cNvSpPr>
            <a:spLocks noGrp="1"/>
          </p:cNvSpPr>
          <p:nvPr/>
        </p:nvSpPr>
        <p:spPr>
          <a:xfrm>
            <a:off x="628650" y="2778919"/>
            <a:ext cx="1600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完成数较低，但等待时间较短。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36FC9D-5511-4217-8028-705C433C1FEC}"/>
              </a:ext>
            </a:extLst>
          </p:cNvPr>
          <p:cNvSpPr>
            <a:spLocks noGrp="1"/>
          </p:cNvSpPr>
          <p:nvPr/>
        </p:nvSpPr>
        <p:spPr>
          <a:xfrm>
            <a:off x="2528887" y="1300163"/>
            <a:ext cx="1843088" cy="1685925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BE3BF45-6DB3-4365-8DBB-7A9E363A5947}"/>
              </a:ext>
            </a:extLst>
          </p:cNvPr>
          <p:cNvSpPr>
            <a:spLocks noGrp="1"/>
          </p:cNvSpPr>
          <p:nvPr/>
        </p:nvSpPr>
        <p:spPr>
          <a:xfrm>
            <a:off x="2643188" y="1400175"/>
            <a:ext cx="1000125" cy="1000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1">
                <a:solidFill>
                  <a:srgbClr val="E8F1F7"/>
                </a:solidFill>
                <a:latin typeface="Microsoft YaHei"/>
                <a:ea typeface="Microsoft YaHei"/>
                <a:cs typeface="Microsoft YaHei"/>
              </a:rPr>
              <a:t>LARGE SCALE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6ED81A-0A58-4A4B-8A6E-8F1E7FC02114}"/>
              </a:ext>
            </a:extLst>
          </p:cNvPr>
          <p:cNvSpPr>
            <a:spLocks noGrp="1"/>
          </p:cNvSpPr>
          <p:nvPr/>
        </p:nvSpPr>
        <p:spPr>
          <a:xfrm>
            <a:off x="2643188" y="1543050"/>
            <a:ext cx="8572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大型场景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347A7D-0A2A-40F0-80B6-44F1CF670D29}"/>
              </a:ext>
            </a:extLst>
          </p:cNvPr>
          <p:cNvSpPr>
            <a:spLocks noGrp="1"/>
          </p:cNvSpPr>
          <p:nvPr/>
        </p:nvSpPr>
        <p:spPr>
          <a:xfrm>
            <a:off x="3378993" y="1603772"/>
            <a:ext cx="1071563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dirty="0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10车 · 20×10 </a:t>
            </a:r>
            <a:r>
              <a:rPr sz="675" dirty="0" err="1">
                <a:solidFill>
                  <a:srgbClr val="F2F6FA"/>
                </a:solidFill>
                <a:latin typeface="Microsoft YaHei"/>
                <a:ea typeface="Microsoft YaHei"/>
                <a:cs typeface="Microsoft YaHei"/>
              </a:rPr>
              <a:t>港口</a:t>
            </a:r>
            <a:endParaRPr sz="675" dirty="0">
              <a:solidFill>
                <a:srgbClr val="F2F6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E2D740-6E13-4D9F-BB96-3A1EF9E5A279}"/>
              </a:ext>
            </a:extLst>
          </p:cNvPr>
          <p:cNvSpPr>
            <a:spLocks noGrp="1"/>
          </p:cNvSpPr>
          <p:nvPr/>
        </p:nvSpPr>
        <p:spPr>
          <a:xfrm>
            <a:off x="2643187" y="1928813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7E9737-11B6-491E-8159-A7C3FC7FF1A1}"/>
              </a:ext>
            </a:extLst>
          </p:cNvPr>
          <p:cNvSpPr>
            <a:spLocks noGrp="1"/>
          </p:cNvSpPr>
          <p:nvPr/>
        </p:nvSpPr>
        <p:spPr>
          <a:xfrm>
            <a:off x="2714625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68512A-18CB-49D4-9D59-99517FF28D2D}"/>
              </a:ext>
            </a:extLst>
          </p:cNvPr>
          <p:cNvSpPr>
            <a:spLocks noGrp="1"/>
          </p:cNvSpPr>
          <p:nvPr/>
        </p:nvSpPr>
        <p:spPr>
          <a:xfrm>
            <a:off x="2714625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任务完成数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1E8516-0CE1-4867-887B-FB0F769B31BC}"/>
              </a:ext>
            </a:extLst>
          </p:cNvPr>
          <p:cNvSpPr>
            <a:spLocks noGrp="1"/>
          </p:cNvSpPr>
          <p:nvPr/>
        </p:nvSpPr>
        <p:spPr>
          <a:xfrm>
            <a:off x="3500437" y="1928813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439710-81CE-4A26-809C-3486A4F25401}"/>
              </a:ext>
            </a:extLst>
          </p:cNvPr>
          <p:cNvSpPr>
            <a:spLocks noGrp="1"/>
          </p:cNvSpPr>
          <p:nvPr/>
        </p:nvSpPr>
        <p:spPr>
          <a:xfrm>
            <a:off x="3571875" y="1985963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13.45s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864B09-D9DC-41DC-ACD6-A59F682DC78C}"/>
              </a:ext>
            </a:extLst>
          </p:cNvPr>
          <p:cNvSpPr>
            <a:spLocks noGrp="1"/>
          </p:cNvSpPr>
          <p:nvPr/>
        </p:nvSpPr>
        <p:spPr>
          <a:xfrm>
            <a:off x="3571875" y="2135981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平均等待时间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D494E4-E647-4744-9C31-E8ABD52F0FA2}"/>
              </a:ext>
            </a:extLst>
          </p:cNvPr>
          <p:cNvSpPr>
            <a:spLocks noGrp="1"/>
          </p:cNvSpPr>
          <p:nvPr/>
        </p:nvSpPr>
        <p:spPr>
          <a:xfrm>
            <a:off x="2643187" y="2371725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6EA3F09-6900-4078-94D6-D503A246E001}"/>
              </a:ext>
            </a:extLst>
          </p:cNvPr>
          <p:cNvSpPr>
            <a:spLocks noGrp="1"/>
          </p:cNvSpPr>
          <p:nvPr/>
        </p:nvSpPr>
        <p:spPr>
          <a:xfrm>
            <a:off x="2714625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7A08FB6-F714-4533-BDAB-22857412C5AD}"/>
              </a:ext>
            </a:extLst>
          </p:cNvPr>
          <p:cNvSpPr>
            <a:spLocks noGrp="1"/>
          </p:cNvSpPr>
          <p:nvPr/>
        </p:nvSpPr>
        <p:spPr>
          <a:xfrm>
            <a:off x="2714625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车辆利用率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1B7542-431E-4C6C-B177-EF4B62B145E6}"/>
              </a:ext>
            </a:extLst>
          </p:cNvPr>
          <p:cNvSpPr>
            <a:spLocks noGrp="1"/>
          </p:cNvSpPr>
          <p:nvPr/>
        </p:nvSpPr>
        <p:spPr>
          <a:xfrm>
            <a:off x="3500437" y="2371725"/>
            <a:ext cx="757238" cy="371475"/>
          </a:xfrm>
          <a:prstGeom prst="rect">
            <a:avLst/>
          </a:prstGeom>
          <a:solidFill>
            <a:srgbClr val="B131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E4F0031-25A8-4B5C-80C0-949150C4EAF6}"/>
              </a:ext>
            </a:extLst>
          </p:cNvPr>
          <p:cNvSpPr>
            <a:spLocks noGrp="1"/>
          </p:cNvSpPr>
          <p:nvPr/>
        </p:nvSpPr>
        <p:spPr>
          <a:xfrm>
            <a:off x="3571875" y="2428875"/>
            <a:ext cx="614363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669847-08C2-4B26-B676-A357FD82C5E4}"/>
              </a:ext>
            </a:extLst>
          </p:cNvPr>
          <p:cNvSpPr>
            <a:spLocks noGrp="1"/>
          </p:cNvSpPr>
          <p:nvPr/>
        </p:nvSpPr>
        <p:spPr>
          <a:xfrm>
            <a:off x="3571875" y="2578894"/>
            <a:ext cx="614363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6">
                <a:solidFill>
                  <a:srgbClr val="F4F8FB"/>
                </a:solidFill>
                <a:latin typeface="Microsoft YaHei"/>
                <a:ea typeface="Microsoft YaHei"/>
                <a:cs typeface="Microsoft YaHei"/>
              </a:rPr>
              <a:t>检测热点数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3209D95-A754-45C2-9475-54EE10A20F46}"/>
              </a:ext>
            </a:extLst>
          </p:cNvPr>
          <p:cNvSpPr>
            <a:spLocks noGrp="1"/>
          </p:cNvSpPr>
          <p:nvPr/>
        </p:nvSpPr>
        <p:spPr>
          <a:xfrm>
            <a:off x="2643188" y="2778919"/>
            <a:ext cx="16002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吞吐提升明显，但等待时间同步增加。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E78A871-9AF6-40BF-9A3D-37F9DA4D4EF5}"/>
              </a:ext>
            </a:extLst>
          </p:cNvPr>
          <p:cNvSpPr>
            <a:spLocks noGrp="1"/>
          </p:cNvSpPr>
          <p:nvPr/>
        </p:nvSpPr>
        <p:spPr>
          <a:xfrm>
            <a:off x="4886325" y="1014413"/>
            <a:ext cx="12858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1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策略对比结果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C03D7D5-E197-433B-8624-9412FFA76868}"/>
              </a:ext>
            </a:extLst>
          </p:cNvPr>
          <p:cNvSpPr>
            <a:spLocks noGrp="1"/>
          </p:cNvSpPr>
          <p:nvPr/>
        </p:nvSpPr>
        <p:spPr>
          <a:xfrm>
            <a:off x="6615113" y="1035844"/>
            <a:ext cx="20002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中型场景，1000步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2B8602F-D972-4AF9-876F-896D03F13428}"/>
              </a:ext>
            </a:extLst>
          </p:cNvPr>
          <p:cNvSpPr>
            <a:spLocks noGrp="1"/>
          </p:cNvSpPr>
          <p:nvPr/>
        </p:nvSpPr>
        <p:spPr>
          <a:xfrm>
            <a:off x="4886325" y="1328737"/>
            <a:ext cx="3743325" cy="242888"/>
          </a:xfrm>
          <a:prstGeom prst="rect">
            <a:avLst/>
          </a:prstGeom>
          <a:solidFill>
            <a:srgbClr val="EAF1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F33190B-4CFB-484F-91AD-7F8A7E90D70F}"/>
              </a:ext>
            </a:extLst>
          </p:cNvPr>
          <p:cNvSpPr>
            <a:spLocks noGrp="1"/>
          </p:cNvSpPr>
          <p:nvPr/>
        </p:nvSpPr>
        <p:spPr>
          <a:xfrm>
            <a:off x="4957763" y="1385887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策略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5947AB-C0E3-485E-878C-D826AC863C73}"/>
              </a:ext>
            </a:extLst>
          </p:cNvPr>
          <p:cNvSpPr>
            <a:spLocks noGrp="1"/>
          </p:cNvSpPr>
          <p:nvPr/>
        </p:nvSpPr>
        <p:spPr>
          <a:xfrm>
            <a:off x="5943600" y="1385887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完成数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813CCC4-F2A6-47F9-A16F-06E1C51B9697}"/>
              </a:ext>
            </a:extLst>
          </p:cNvPr>
          <p:cNvSpPr>
            <a:spLocks noGrp="1"/>
          </p:cNvSpPr>
          <p:nvPr/>
        </p:nvSpPr>
        <p:spPr>
          <a:xfrm>
            <a:off x="6486525" y="1385887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平均等待(s)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615F769-8604-4561-B84E-4A7B5A8BA7D8}"/>
              </a:ext>
            </a:extLst>
          </p:cNvPr>
          <p:cNvSpPr>
            <a:spLocks noGrp="1"/>
          </p:cNvSpPr>
          <p:nvPr/>
        </p:nvSpPr>
        <p:spPr>
          <a:xfrm>
            <a:off x="7315200" y="1385887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利用率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3887EC8-F130-4894-9C6D-1C31CD2F7BB8}"/>
              </a:ext>
            </a:extLst>
          </p:cNvPr>
          <p:cNvSpPr>
            <a:spLocks noGrp="1"/>
          </p:cNvSpPr>
          <p:nvPr/>
        </p:nvSpPr>
        <p:spPr>
          <a:xfrm>
            <a:off x="8001000" y="1385887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9" b="1">
                <a:solidFill>
                  <a:srgbClr val="0B3B5A"/>
                </a:solidFill>
                <a:latin typeface="Microsoft YaHei"/>
                <a:ea typeface="Microsoft YaHei"/>
                <a:cs typeface="Microsoft YaHei"/>
              </a:rPr>
              <a:t>热点数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397E57F-AA6A-407B-B7DA-476D38737CFF}"/>
              </a:ext>
            </a:extLst>
          </p:cNvPr>
          <p:cNvSpPr>
            <a:spLocks noGrp="1"/>
          </p:cNvSpPr>
          <p:nvPr/>
        </p:nvSpPr>
        <p:spPr>
          <a:xfrm>
            <a:off x="4886325" y="1571625"/>
            <a:ext cx="3743325" cy="300038"/>
          </a:xfrm>
          <a:prstGeom prst="rect">
            <a:avLst/>
          </a:prstGeom>
          <a:solidFill>
            <a:srgbClr val="F7F9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6CCECDC-B4D7-4DEA-A4C7-855C3602C00E}"/>
              </a:ext>
            </a:extLst>
          </p:cNvPr>
          <p:cNvSpPr>
            <a:spLocks noGrp="1"/>
          </p:cNvSpPr>
          <p:nvPr/>
        </p:nvSpPr>
        <p:spPr>
          <a:xfrm>
            <a:off x="4886325" y="1864519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E181074-B130-4ECE-9FBC-A373169FF766}"/>
              </a:ext>
            </a:extLst>
          </p:cNvPr>
          <p:cNvSpPr>
            <a:spLocks noGrp="1"/>
          </p:cNvSpPr>
          <p:nvPr/>
        </p:nvSpPr>
        <p:spPr>
          <a:xfrm>
            <a:off x="4957763" y="1657350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基线模型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C58ECF6-7274-4015-AEB3-F831060F60B5}"/>
              </a:ext>
            </a:extLst>
          </p:cNvPr>
          <p:cNvSpPr>
            <a:spLocks noGrp="1"/>
          </p:cNvSpPr>
          <p:nvPr/>
        </p:nvSpPr>
        <p:spPr>
          <a:xfrm>
            <a:off x="5943600" y="1657350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F21AAFE-AE01-4211-8402-C2B11FA30EEA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11.48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FAB79AA-9F66-44A5-86D7-7FA106FC52EB}"/>
              </a:ext>
            </a:extLst>
          </p:cNvPr>
          <p:cNvSpPr>
            <a:spLocks noGrp="1"/>
          </p:cNvSpPr>
          <p:nvPr/>
        </p:nvSpPr>
        <p:spPr>
          <a:xfrm>
            <a:off x="7315200" y="1657350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9E41127-15A0-45B1-B6AF-3A1C6CECD5CD}"/>
              </a:ext>
            </a:extLst>
          </p:cNvPr>
          <p:cNvSpPr>
            <a:spLocks noGrp="1"/>
          </p:cNvSpPr>
          <p:nvPr/>
        </p:nvSpPr>
        <p:spPr>
          <a:xfrm>
            <a:off x="8001000" y="1657350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4EEEA0B-5994-4FA5-AED3-15D98A226B2B}"/>
              </a:ext>
            </a:extLst>
          </p:cNvPr>
          <p:cNvSpPr>
            <a:spLocks noGrp="1"/>
          </p:cNvSpPr>
          <p:nvPr/>
        </p:nvSpPr>
        <p:spPr>
          <a:xfrm>
            <a:off x="4886325" y="1871662"/>
            <a:ext cx="3743325" cy="300038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7799331-D3D5-4C90-A781-15299E1BC4A1}"/>
              </a:ext>
            </a:extLst>
          </p:cNvPr>
          <p:cNvSpPr>
            <a:spLocks noGrp="1"/>
          </p:cNvSpPr>
          <p:nvPr/>
        </p:nvSpPr>
        <p:spPr>
          <a:xfrm>
            <a:off x="4886325" y="2164557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C207BF1-967C-4CA1-84E5-26BA43A38B0E}"/>
              </a:ext>
            </a:extLst>
          </p:cNvPr>
          <p:cNvSpPr>
            <a:spLocks noGrp="1"/>
          </p:cNvSpPr>
          <p:nvPr/>
        </p:nvSpPr>
        <p:spPr>
          <a:xfrm>
            <a:off x="4957763" y="1957387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+机器学习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DB03B0A-AEB5-4465-A4B5-5C8F2329D2DB}"/>
              </a:ext>
            </a:extLst>
          </p:cNvPr>
          <p:cNvSpPr>
            <a:spLocks noGrp="1"/>
          </p:cNvSpPr>
          <p:nvPr/>
        </p:nvSpPr>
        <p:spPr>
          <a:xfrm>
            <a:off x="5943600" y="1957387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53FA83-8185-4C49-8990-7447B7D11C33}"/>
              </a:ext>
            </a:extLst>
          </p:cNvPr>
          <p:cNvSpPr>
            <a:spLocks noGrp="1"/>
          </p:cNvSpPr>
          <p:nvPr/>
        </p:nvSpPr>
        <p:spPr>
          <a:xfrm>
            <a:off x="6486525" y="1957387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10.08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DFE31ED-F906-4917-BB03-91B32C8521F1}"/>
              </a:ext>
            </a:extLst>
          </p:cNvPr>
          <p:cNvSpPr>
            <a:spLocks noGrp="1"/>
          </p:cNvSpPr>
          <p:nvPr/>
        </p:nvSpPr>
        <p:spPr>
          <a:xfrm>
            <a:off x="7315200" y="1957387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3EDC60-7AE5-4F41-8CD0-5F87699E2BB9}"/>
              </a:ext>
            </a:extLst>
          </p:cNvPr>
          <p:cNvSpPr>
            <a:spLocks noGrp="1"/>
          </p:cNvSpPr>
          <p:nvPr/>
        </p:nvSpPr>
        <p:spPr>
          <a:xfrm>
            <a:off x="8001000" y="1957387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20E5CD3-C126-4853-B923-94651450B202}"/>
              </a:ext>
            </a:extLst>
          </p:cNvPr>
          <p:cNvSpPr>
            <a:spLocks noGrp="1"/>
          </p:cNvSpPr>
          <p:nvPr/>
        </p:nvSpPr>
        <p:spPr>
          <a:xfrm>
            <a:off x="4886325" y="2171700"/>
            <a:ext cx="3743325" cy="300038"/>
          </a:xfrm>
          <a:prstGeom prst="rect">
            <a:avLst/>
          </a:prstGeom>
          <a:solidFill>
            <a:srgbClr val="F7F9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BDB1539-12C4-4FEA-B2F0-0F280EDFD0EF}"/>
              </a:ext>
            </a:extLst>
          </p:cNvPr>
          <p:cNvSpPr>
            <a:spLocks noGrp="1"/>
          </p:cNvSpPr>
          <p:nvPr/>
        </p:nvSpPr>
        <p:spPr>
          <a:xfrm>
            <a:off x="4886325" y="2464594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F9749FF-20D8-47E5-BB60-21ED4AE9962B}"/>
              </a:ext>
            </a:extLst>
          </p:cNvPr>
          <p:cNvSpPr>
            <a:spLocks noGrp="1"/>
          </p:cNvSpPr>
          <p:nvPr/>
        </p:nvSpPr>
        <p:spPr>
          <a:xfrm>
            <a:off x="4957763" y="2257425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+避障预测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FBA07F0-0D88-4546-AE0C-F7D30CE49014}"/>
              </a:ext>
            </a:extLst>
          </p:cNvPr>
          <p:cNvSpPr>
            <a:spLocks noGrp="1"/>
          </p:cNvSpPr>
          <p:nvPr/>
        </p:nvSpPr>
        <p:spPr>
          <a:xfrm>
            <a:off x="5943600" y="2257425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106FE18-F93F-47AF-8678-024018A8422B}"/>
              </a:ext>
            </a:extLst>
          </p:cNvPr>
          <p:cNvSpPr>
            <a:spLocks noGrp="1"/>
          </p:cNvSpPr>
          <p:nvPr/>
        </p:nvSpPr>
        <p:spPr>
          <a:xfrm>
            <a:off x="6486525" y="2257425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10.70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4CBD2AB-AB59-409E-9F36-FBC4C13EA258}"/>
              </a:ext>
            </a:extLst>
          </p:cNvPr>
          <p:cNvSpPr>
            <a:spLocks noGrp="1"/>
          </p:cNvSpPr>
          <p:nvPr/>
        </p:nvSpPr>
        <p:spPr>
          <a:xfrm>
            <a:off x="7315200" y="2257425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FADC09-1324-4C2A-9C09-C15BC96DC0B2}"/>
              </a:ext>
            </a:extLst>
          </p:cNvPr>
          <p:cNvSpPr>
            <a:spLocks noGrp="1"/>
          </p:cNvSpPr>
          <p:nvPr/>
        </p:nvSpPr>
        <p:spPr>
          <a:xfrm>
            <a:off x="8001000" y="2257425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EE1C29B-AAFE-4E25-A0F5-0E50246881DF}"/>
              </a:ext>
            </a:extLst>
          </p:cNvPr>
          <p:cNvSpPr>
            <a:spLocks noGrp="1"/>
          </p:cNvSpPr>
          <p:nvPr/>
        </p:nvSpPr>
        <p:spPr>
          <a:xfrm>
            <a:off x="4886325" y="2471737"/>
            <a:ext cx="3743325" cy="300038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24328E1-B624-4A8F-AB84-81A80CE2F7F7}"/>
              </a:ext>
            </a:extLst>
          </p:cNvPr>
          <p:cNvSpPr>
            <a:spLocks noGrp="1"/>
          </p:cNvSpPr>
          <p:nvPr/>
        </p:nvSpPr>
        <p:spPr>
          <a:xfrm>
            <a:off x="4886325" y="2764632"/>
            <a:ext cx="3743325" cy="7144"/>
          </a:xfrm>
          <a:prstGeom prst="rect">
            <a:avLst/>
          </a:prstGeom>
          <a:solidFill>
            <a:srgbClr val="D8DE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32AE0F7-4118-490C-AA59-BA69AF5406E9}"/>
              </a:ext>
            </a:extLst>
          </p:cNvPr>
          <p:cNvSpPr>
            <a:spLocks noGrp="1"/>
          </p:cNvSpPr>
          <p:nvPr/>
        </p:nvSpPr>
        <p:spPr>
          <a:xfrm>
            <a:off x="4957763" y="2557462"/>
            <a:ext cx="9144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全选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7787E48-92F6-4394-ABB9-D094E0E74DF2}"/>
              </a:ext>
            </a:extLst>
          </p:cNvPr>
          <p:cNvSpPr>
            <a:spLocks noGrp="1"/>
          </p:cNvSpPr>
          <p:nvPr/>
        </p:nvSpPr>
        <p:spPr>
          <a:xfrm>
            <a:off x="5943600" y="2557462"/>
            <a:ext cx="5429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8E2A406-0401-4527-B4CF-F63DBF4EB288}"/>
              </a:ext>
            </a:extLst>
          </p:cNvPr>
          <p:cNvSpPr>
            <a:spLocks noGrp="1"/>
          </p:cNvSpPr>
          <p:nvPr/>
        </p:nvSpPr>
        <p:spPr>
          <a:xfrm>
            <a:off x="6486525" y="2557462"/>
            <a:ext cx="828675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rPr>
              <a:t>9.18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A479D9D-C39D-4DE0-BA02-5FB8FA4A0293}"/>
              </a:ext>
            </a:extLst>
          </p:cNvPr>
          <p:cNvSpPr>
            <a:spLocks noGrp="1"/>
          </p:cNvSpPr>
          <p:nvPr/>
        </p:nvSpPr>
        <p:spPr>
          <a:xfrm>
            <a:off x="7315200" y="2557462"/>
            <a:ext cx="6858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2C57EB2-EC27-40B4-AF19-D0DF29885B36}"/>
              </a:ext>
            </a:extLst>
          </p:cNvPr>
          <p:cNvSpPr>
            <a:spLocks noGrp="1"/>
          </p:cNvSpPr>
          <p:nvPr/>
        </p:nvSpPr>
        <p:spPr>
          <a:xfrm>
            <a:off x="8001000" y="2557462"/>
            <a:ext cx="6286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9C111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F96D7F2-9530-4022-A975-5373EE4323A8}"/>
              </a:ext>
            </a:extLst>
          </p:cNvPr>
          <p:cNvSpPr>
            <a:spLocks noGrp="1"/>
          </p:cNvSpPr>
          <p:nvPr/>
        </p:nvSpPr>
        <p:spPr>
          <a:xfrm>
            <a:off x="4886325" y="2912218"/>
            <a:ext cx="37433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 err="1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完成数最优的是</a:t>
            </a:r>
            <a:r>
              <a:rPr sz="800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800" b="1" dirty="0" err="1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避障预测</a:t>
            </a:r>
            <a:r>
              <a:rPr lang="en-US" sz="800" b="1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800" dirty="0" err="1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等待时间最优的是</a:t>
            </a:r>
            <a:r>
              <a:rPr sz="800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全选</a:t>
            </a:r>
            <a:r>
              <a:rPr lang="en-US" sz="800" b="1" dirty="0">
                <a:solidFill>
                  <a:srgbClr val="6E7680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800" dirty="0">
              <a:solidFill>
                <a:srgbClr val="6E76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27D36FA-0B64-49D9-8EE3-EB3531668B95}"/>
              </a:ext>
            </a:extLst>
          </p:cNvPr>
          <p:cNvSpPr>
            <a:spLocks noGrp="1"/>
          </p:cNvSpPr>
          <p:nvPr/>
        </p:nvSpPr>
        <p:spPr>
          <a:xfrm>
            <a:off x="514350" y="3544668"/>
            <a:ext cx="1143000" cy="242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7E09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7E0909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  <a:endParaRPr sz="1575" b="1" dirty="0">
              <a:solidFill>
                <a:srgbClr val="7E090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ECB6B94-308E-4EAB-85B6-F4F9865C2344}"/>
              </a:ext>
            </a:extLst>
          </p:cNvPr>
          <p:cNvSpPr>
            <a:spLocks noGrp="1"/>
          </p:cNvSpPr>
          <p:nvPr/>
        </p:nvSpPr>
        <p:spPr>
          <a:xfrm>
            <a:off x="1452159" y="3660640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2C6F11A-4A84-435A-9247-99B0C2676D6E}"/>
              </a:ext>
            </a:extLst>
          </p:cNvPr>
          <p:cNvSpPr>
            <a:spLocks noGrp="1"/>
          </p:cNvSpPr>
          <p:nvPr/>
        </p:nvSpPr>
        <p:spPr>
          <a:xfrm>
            <a:off x="1566457" y="3603489"/>
            <a:ext cx="3560019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大场景完成数由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60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升至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81，但平均等待由 9.85s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增至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13.45s。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B1AAB99-30EC-4594-A5EC-8E7D50B843C8}"/>
              </a:ext>
            </a:extLst>
          </p:cNvPr>
          <p:cNvSpPr>
            <a:spLocks noGrp="1"/>
          </p:cNvSpPr>
          <p:nvPr/>
        </p:nvSpPr>
        <p:spPr>
          <a:xfrm>
            <a:off x="1452159" y="3910671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931990F-1FD9-44E4-B51C-1D5982117A13}"/>
              </a:ext>
            </a:extLst>
          </p:cNvPr>
          <p:cNvSpPr>
            <a:spLocks noGrp="1"/>
          </p:cNvSpPr>
          <p:nvPr/>
        </p:nvSpPr>
        <p:spPr>
          <a:xfrm>
            <a:off x="1566458" y="3853520"/>
            <a:ext cx="3521108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小型与大型场景利用率分别为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98% 和 99%，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两者都接近满负荷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841E5FF-E83B-4953-B702-3A113E9423D0}"/>
              </a:ext>
            </a:extLst>
          </p:cNvPr>
          <p:cNvSpPr>
            <a:spLocks noGrp="1"/>
          </p:cNvSpPr>
          <p:nvPr/>
        </p:nvSpPr>
        <p:spPr>
          <a:xfrm>
            <a:off x="1452159" y="4160702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B6DE54D-2452-49F3-A5E0-520AA7F72359}"/>
              </a:ext>
            </a:extLst>
          </p:cNvPr>
          <p:cNvSpPr>
            <a:spLocks noGrp="1"/>
          </p:cNvSpPr>
          <p:nvPr/>
        </p:nvSpPr>
        <p:spPr>
          <a:xfrm>
            <a:off x="1566457" y="4103552"/>
            <a:ext cx="3448151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大小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两种规模的热点数均为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1，规模扩大未带来更多热点检出。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5BE3664-8843-4E11-8B8E-9DFB91C0DB50}"/>
              </a:ext>
            </a:extLst>
          </p:cNvPr>
          <p:cNvSpPr>
            <a:spLocks noGrp="1"/>
          </p:cNvSpPr>
          <p:nvPr/>
        </p:nvSpPr>
        <p:spPr>
          <a:xfrm>
            <a:off x="5179219" y="3650913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590F722-D83B-43CB-8C86-4659EEADC05D}"/>
              </a:ext>
            </a:extLst>
          </p:cNvPr>
          <p:cNvSpPr>
            <a:spLocks noGrp="1"/>
          </p:cNvSpPr>
          <p:nvPr/>
        </p:nvSpPr>
        <p:spPr>
          <a:xfrm>
            <a:off x="5293518" y="3593762"/>
            <a:ext cx="3913711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4. +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避障预测完成数最高，为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71，说明拥堵规避对吞吐提升最直接。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59A3352-F628-44DE-AB82-154DD38A8665}"/>
              </a:ext>
            </a:extLst>
          </p:cNvPr>
          <p:cNvSpPr>
            <a:spLocks noGrp="1"/>
          </p:cNvSpPr>
          <p:nvPr/>
        </p:nvSpPr>
        <p:spPr>
          <a:xfrm>
            <a:off x="5179219" y="3900944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91145BE-A741-423F-917E-97C767A98ECD}"/>
              </a:ext>
            </a:extLst>
          </p:cNvPr>
          <p:cNvSpPr>
            <a:spLocks noGrp="1"/>
          </p:cNvSpPr>
          <p:nvPr/>
        </p:nvSpPr>
        <p:spPr>
          <a:xfrm>
            <a:off x="5293519" y="3843793"/>
            <a:ext cx="29860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全选等待时间最低，为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 9.18s，但完成数只有 65。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9473ED3-E683-4831-80CF-2A48937CF590}"/>
              </a:ext>
            </a:extLst>
          </p:cNvPr>
          <p:cNvSpPr>
            <a:spLocks noGrp="1"/>
          </p:cNvSpPr>
          <p:nvPr/>
        </p:nvSpPr>
        <p:spPr>
          <a:xfrm>
            <a:off x="5179219" y="4150975"/>
            <a:ext cx="50006" cy="50006"/>
          </a:xfrm>
          <a:prstGeom prst="rect">
            <a:avLst/>
          </a:prstGeom>
          <a:solidFill>
            <a:srgbClr val="9C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8177E67-ABFA-4766-9113-596590988B22}"/>
              </a:ext>
            </a:extLst>
          </p:cNvPr>
          <p:cNvSpPr>
            <a:spLocks noGrp="1"/>
          </p:cNvSpPr>
          <p:nvPr/>
        </p:nvSpPr>
        <p:spPr>
          <a:xfrm>
            <a:off x="5293518" y="4093825"/>
            <a:ext cx="3782387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6. +</a:t>
            </a:r>
            <a:r>
              <a:rPr sz="900" dirty="0" err="1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机器学习相对基线仅小幅改善：完成数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增加</a:t>
            </a:r>
            <a:r>
              <a:rPr lang="en-US" altLang="zh-CN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，等待</a:t>
            </a:r>
            <a:r>
              <a:rPr lang="zh-CN" altLang="en-US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减少</a:t>
            </a:r>
            <a:r>
              <a:rPr lang="en-US" altLang="zh-CN"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1.4s</a:t>
            </a:r>
            <a:r>
              <a:rPr sz="900" dirty="0">
                <a:solidFill>
                  <a:srgbClr val="17405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9" name="Text 0">
            <a:extLst>
              <a:ext uri="{FF2B5EF4-FFF2-40B4-BE49-F238E27FC236}">
                <a16:creationId xmlns:a16="http://schemas.microsoft.com/office/drawing/2014/main" id="{2A64A65D-26F5-70C1-48F5-6D267577B58F}"/>
              </a:ext>
            </a:extLst>
          </p:cNvPr>
          <p:cNvSpPr/>
          <p:nvPr/>
        </p:nvSpPr>
        <p:spPr>
          <a:xfrm>
            <a:off x="54864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实验结果与分析</a:t>
            </a:r>
            <a:endParaRPr lang="en-US" sz="3400" dirty="0"/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0A93567B-594D-9A96-0223-4EB7114DCCBB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953B237A-BB09-943C-1DB6-564A03BFA517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504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DF0D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港口环境建模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可配置随机布局生成器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支持8×3至20×10网格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A*路径规划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集成拥堵预测的增强A*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即时避障+趋势预测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42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匈牙利任务分配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25968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ML增强的代价矩阵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全局最优多车匹配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92424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92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3467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智能预测+RL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33467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随机森林价值预测+EWMA拥堵学习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Q-Learning多智能体协调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42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Web可视化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0320" y="4096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Web</a:t>
            </a:r>
            <a:r>
              <a:rPr lang="en-US" sz="1000" dirty="0"/>
              <a:t> </a:t>
            </a:r>
            <a:r>
              <a:rPr lang="en-US" sz="10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Canvas实时渲染+API服务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320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5669280" y="109728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55080" y="1143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深度强化学习(PPO/DQN)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替代Q-Learning表格法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187452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1874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550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接入真实港口数据集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模型校准与验证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265176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5508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多港口协同调度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跨节点联合优化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4290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06440" y="3429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🪞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3550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实时数字孪生系统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3D可视化集成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35"/>
          <p:cNvSpPr/>
          <p:nvPr/>
        </p:nvSpPr>
        <p:spPr>
          <a:xfrm>
            <a:off x="2358957" y="1798401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2358957" y="27050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669B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06408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845</Words>
  <Application>Microsoft Office PowerPoint</Application>
  <PresentationFormat>全屏显示(16:9)</PresentationFormat>
  <Paragraphs>259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微软雅黑</vt:lpstr>
      <vt:lpstr>微软雅黑</vt:lpstr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自动化港口集卡路径规划与任务分配系统 — 答辩PPT</dc:title>
  <dc:subject>PptxGenJS Presentation</dc:subject>
  <dc:creator>Port Dispatch Team</dc:creator>
  <cp:lastModifiedBy>嘉宏 倪</cp:lastModifiedBy>
  <cp:revision>30</cp:revision>
  <dcterms:created xsi:type="dcterms:W3CDTF">2026-06-07T02:15:36Z</dcterms:created>
  <dcterms:modified xsi:type="dcterms:W3CDTF">2026-06-09T07:51:56Z</dcterms:modified>
</cp:coreProperties>
</file>